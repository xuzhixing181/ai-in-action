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320" r:id="rId4"/>
    <p:sldId id="319" r:id="rId5"/>
    <p:sldId id="322" r:id="rId6"/>
    <p:sldId id="326" r:id="rId7"/>
    <p:sldId id="324" r:id="rId8"/>
    <p:sldId id="327" r:id="rId9"/>
    <p:sldId id="328" r:id="rId10"/>
    <p:sldId id="329" r:id="rId11"/>
    <p:sldId id="330" r:id="rId12"/>
    <p:sldId id="331" r:id="rId13"/>
    <p:sldId id="325" r:id="rId14"/>
  </p:sldIdLst>
  <p:sldSz cx="24384000" cy="13716000"/>
  <p:notesSz cx="6858000" cy="9144000"/>
  <p:custDataLst>
    <p:tags r:id="rId2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 panose="02000503000000020004"/>
        <a:ea typeface="Helvetica Neue Medium" panose="02000503000000020004"/>
        <a:cs typeface="Helvetica Neue Medium" panose="02000503000000020004"/>
        <a:sym typeface="Helvetica Neue Medium" panose="02000503000000020004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 panose="02000503000000020004"/>
        <a:ea typeface="Helvetica Neue Medium" panose="02000503000000020004"/>
        <a:cs typeface="Helvetica Neue Medium" panose="02000503000000020004"/>
        <a:sym typeface="Helvetica Neue Medium" panose="02000503000000020004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 panose="02000503000000020004"/>
        <a:ea typeface="Helvetica Neue Medium" panose="02000503000000020004"/>
        <a:cs typeface="Helvetica Neue Medium" panose="02000503000000020004"/>
        <a:sym typeface="Helvetica Neue Medium" panose="02000503000000020004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 panose="02000503000000020004"/>
        <a:ea typeface="Helvetica Neue Medium" panose="02000503000000020004"/>
        <a:cs typeface="Helvetica Neue Medium" panose="02000503000000020004"/>
        <a:sym typeface="Helvetica Neue Medium" panose="02000503000000020004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 panose="02000503000000020004"/>
        <a:ea typeface="Helvetica Neue Medium" panose="02000503000000020004"/>
        <a:cs typeface="Helvetica Neue Medium" panose="02000503000000020004"/>
        <a:sym typeface="Helvetica Neue Medium" panose="02000503000000020004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 panose="02000503000000020004"/>
        <a:ea typeface="Helvetica Neue Medium" panose="02000503000000020004"/>
        <a:cs typeface="Helvetica Neue Medium" panose="02000503000000020004"/>
        <a:sym typeface="Helvetica Neue Medium" panose="02000503000000020004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 panose="02000503000000020004"/>
        <a:ea typeface="Helvetica Neue Medium" panose="02000503000000020004"/>
        <a:cs typeface="Helvetica Neue Medium" panose="02000503000000020004"/>
        <a:sym typeface="Helvetica Neue Medium" panose="02000503000000020004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 panose="02000503000000020004"/>
        <a:ea typeface="Helvetica Neue Medium" panose="02000503000000020004"/>
        <a:cs typeface="Helvetica Neue Medium" panose="02000503000000020004"/>
        <a:sym typeface="Helvetica Neue Medium" panose="02000503000000020004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 panose="02000503000000020004"/>
        <a:ea typeface="Helvetica Neue Medium" panose="02000503000000020004"/>
        <a:cs typeface="Helvetica Neue Medium" panose="02000503000000020004"/>
        <a:sym typeface="Helvetica Neue Medium" panose="020005030000000200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7318FF-F128-4A53-A500-50546EB5DFE1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9300">
              <a:lumMod val="10000"/>
              <a:lumOff val="90000"/>
            </a:srgbClr>
          </a:solidFill>
        </a:fill>
      </a:tcStyle>
    </a:band2H>
    <a:band1V>
      <a:tcTxStyle/>
      <a:tcStyle>
        <a:tcBdr/>
        <a:fill>
          <a:solidFill>
            <a:srgbClr val="FF9300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930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9300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FF93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rgbClr val="FF93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FF9300"/>
          </a:solidFill>
        </a:fill>
      </a:tcStyle>
    </a:firstRow>
  </a:tblStyle>
  <a:tblStyle styleId="{12C70CD5-B03B-46D6-B764-12221F8BC89D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9300">
              <a:lumMod val="10000"/>
              <a:lumOff val="90000"/>
            </a:srgbClr>
          </a:solidFill>
        </a:fill>
      </a:tcStyle>
    </a:band2H>
    <a:band1V>
      <a:tcTxStyle/>
      <a:tcStyle>
        <a:tcBdr/>
        <a:fill>
          <a:solidFill>
            <a:srgbClr val="FF9300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930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9300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FF93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rgbClr val="FF93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FF9300"/>
          </a:solidFill>
        </a:fill>
      </a:tcStyle>
    </a:firstRow>
  </a:tblStyle>
  <a:tblStyle styleId="{76C5231B-1B10-440A-BC70-DF6BF63BB133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9300">
              <a:lumMod val="10000"/>
              <a:lumOff val="90000"/>
            </a:srgbClr>
          </a:solidFill>
        </a:fill>
      </a:tcStyle>
    </a:band2H>
    <a:band1V>
      <a:tcTxStyle/>
      <a:tcStyle>
        <a:tcBdr/>
        <a:fill>
          <a:solidFill>
            <a:srgbClr val="FF9300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930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9300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FF93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rgbClr val="FF93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FF9300"/>
          </a:solidFill>
        </a:fill>
      </a:tcStyle>
    </a:firstRow>
  </a:tblStyle>
  <a:tblStyle styleId="{FD47B06F-D23B-4B3B-8ABC-97372FBE22C4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9300">
              <a:lumMod val="10000"/>
              <a:lumOff val="90000"/>
            </a:srgbClr>
          </a:solidFill>
        </a:fill>
      </a:tcStyle>
    </a:band2H>
    <a:band1V>
      <a:tcTxStyle/>
      <a:tcStyle>
        <a:tcBdr/>
        <a:fill>
          <a:solidFill>
            <a:srgbClr val="FF9300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930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9300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FF93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rgbClr val="FF93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FF9300"/>
          </a:solidFill>
        </a:fill>
      </a:tcStyle>
    </a:firstRow>
  </a:tblStyle>
  <a:tblStyle styleId="{B5CB02F7-2A5F-49FE-9F6A-FB74767AA055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9300">
              <a:lumMod val="10000"/>
              <a:lumOff val="90000"/>
            </a:srgbClr>
          </a:solidFill>
        </a:fill>
      </a:tcStyle>
    </a:band2H>
    <a:band1V>
      <a:tcTxStyle/>
      <a:tcStyle>
        <a:tcBdr/>
        <a:fill>
          <a:solidFill>
            <a:srgbClr val="FF9300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930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9300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FF93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rgbClr val="FF9300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rgbClr val="FF9300"/>
              </a:solidFill>
              <a:prstDash val="solid"/>
            </a:ln>
          </a:left>
          <a:right>
            <a:ln w="9525" cmpd="sng">
              <a:solidFill>
                <a:srgbClr val="FF9300"/>
              </a:solidFill>
              <a:prstDash val="solid"/>
            </a:ln>
          </a:right>
          <a:top>
            <a:ln w="9525" cmpd="sng">
              <a:solidFill>
                <a:srgbClr val="FF9300"/>
              </a:solidFill>
              <a:prstDash val="solid"/>
            </a:ln>
          </a:top>
          <a:bottom>
            <a:ln w="9525" cmpd="sng">
              <a:solidFill>
                <a:srgbClr val="FF9300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FF9300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FF93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6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32" name="Shape 3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3" name="Shape 3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j-lt"/>
        <a:ea typeface="+mj-ea"/>
        <a:cs typeface="+mj-cs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+mj-lt"/>
        <a:ea typeface="+mj-ea"/>
        <a:cs typeface="+mj-cs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+mj-lt"/>
        <a:ea typeface="+mj-ea"/>
        <a:cs typeface="+mj-cs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+mj-lt"/>
        <a:ea typeface="+mj-ea"/>
        <a:cs typeface="+mj-cs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+mj-lt"/>
        <a:ea typeface="+mj-ea"/>
        <a:cs typeface="+mj-cs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+mj-lt"/>
        <a:ea typeface="+mj-ea"/>
        <a:cs typeface="+mj-cs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+mj-lt"/>
        <a:ea typeface="+mj-ea"/>
        <a:cs typeface="+mj-cs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+mj-lt"/>
        <a:ea typeface="+mj-ea"/>
        <a:cs typeface="+mj-cs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+mj-lt"/>
        <a:ea typeface="+mj-ea"/>
        <a:cs typeface="+mj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正文"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 userDrawn="1"/>
        </p:nvSpPr>
        <p:spPr>
          <a:xfrm>
            <a:off x="22253575" y="12248515"/>
            <a:ext cx="8128000" cy="5632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 Medium" panose="020005030000000200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与副标题">
    <p:spTree>
      <p:nvGrpSpPr>
        <p:cNvPr id="1" name=""/>
        <p:cNvGrpSpPr/>
        <p:nvPr/>
      </p:nvGrpSpPr>
      <p:grpSpPr/>
      <p:pic>
        <p:nvPicPr>
          <p:cNvPr id="21" name="图片 4" descr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" y="1667"/>
            <a:ext cx="24386965" cy="1371433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2" name="QCon +-2.jpg" descr="QCon +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" name="标题文本"/>
          <p:cNvSpPr/>
          <p:nvPr>
            <p:ph type="title" hasCustomPrompt="1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24" name="正文级别 1…"/>
          <p:cNvSpPr/>
          <p:nvPr>
            <p:ph type="body" sz="quarter" idx="1" hasCustomPrompt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1pPr>
            <a:lvl2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2pPr>
            <a:lvl3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3pPr>
            <a:lvl4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4pPr>
            <a:lvl5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5pPr>
          </a:lstStyle>
          <a:p>
            <a:r>
              <a:t>正文级别 1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25" name="图片 6" descr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" y="1667"/>
            <a:ext cx="24386965" cy="1371433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" name="幻灯片编号"/>
          <p:cNvSpPr/>
          <p:nvPr>
            <p:ph type="sldNum" sz="quarter" idx="2"/>
          </p:nvPr>
        </p:nvSpPr>
        <p:spPr>
          <a:xfrm>
            <a:off x="11958955" y="13081000"/>
            <a:ext cx="925830" cy="36766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4" descr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" y="1667"/>
            <a:ext cx="24386965" cy="1371433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标题文本"/>
          <p:cNvSpPr/>
          <p:nvPr>
            <p:ph type="title"/>
          </p:nvPr>
        </p:nvSpPr>
        <p:spPr>
          <a:xfrm>
            <a:off x="1219200" y="449643"/>
            <a:ext cx="21945600" cy="248526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6" name="正文级别 1…"/>
          <p:cNvSpPr/>
          <p:nvPr>
            <p:ph type="body" idx="1"/>
          </p:nvPr>
        </p:nvSpPr>
        <p:spPr>
          <a:xfrm>
            <a:off x="1219200" y="2934906"/>
            <a:ext cx="21945600" cy="958291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阿里巴巴普惠体 3.0 35 Thin" panose="00020600040101010101" charset="-122"/>
          <a:ea typeface="阿里巴巴普惠体 3.0 35 Thin" panose="00020600040101010101" charset="-122"/>
          <a:cs typeface="Helvetica Neue Medium" panose="02000503000000020004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阿里巴巴普惠体 3.0 35 Thin" panose="00020600040101010101" charset="-122"/>
          <a:ea typeface="阿里巴巴普惠体 3.0 35 Thin" panose="00020600040101010101" charset="-122"/>
          <a:cs typeface="阿里巴巴普惠体 3.0 35 Thin" panose="00020600040101010101" charset="-122"/>
          <a:sym typeface="Helvetica Neue" panose="02000503000000020004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阿里巴巴普惠体 3.0 35 Thin" panose="00020600040101010101" charset="-122"/>
          <a:ea typeface="阿里巴巴普惠体 3.0 35 Thin" panose="00020600040101010101" charset="-122"/>
          <a:cs typeface="阿里巴巴普惠体 3.0 35 Thin" panose="00020600040101010101" charset="-122"/>
          <a:sym typeface="Helvetica Neue" panose="02000503000000020004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阿里巴巴普惠体 3.0 35 Thin" panose="00020600040101010101" charset="-122"/>
          <a:ea typeface="阿里巴巴普惠体 3.0 35 Thin" panose="00020600040101010101" charset="-122"/>
          <a:cs typeface="阿里巴巴普惠体 3.0 35 Thin" panose="00020600040101010101" charset="-122"/>
          <a:sym typeface="Helvetica Neue" panose="02000503000000020004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阿里巴巴普惠体 3.0 35 Thin" panose="00020600040101010101" charset="-122"/>
          <a:ea typeface="阿里巴巴普惠体 3.0 35 Thin" panose="00020600040101010101" charset="-122"/>
          <a:cs typeface="阿里巴巴普惠体 3.0 35 Thin" panose="00020600040101010101" charset="-122"/>
          <a:sym typeface="Helvetica Neue" panose="02000503000000020004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阿里巴巴普惠体 3.0 35 Thin" panose="00020600040101010101" charset="-122"/>
          <a:ea typeface="阿里巴巴普惠体 3.0 35 Thin" panose="00020600040101010101" charset="-122"/>
          <a:cs typeface="阿里巴巴普惠体 3.0 35 Thin" panose="00020600040101010101" charset="-122"/>
          <a:sym typeface="Helvetica Neue" panose="02000503000000020004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 panose="02000503000000020004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 panose="02000503000000020004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 panose="02000503000000020004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 panose="02000503000000020004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" name="填写课程标题"/>
          <p:cNvSpPr/>
          <p:nvPr>
            <p:ph type="title"/>
          </p:nvPr>
        </p:nvSpPr>
        <p:spPr>
          <a:xfrm>
            <a:off x="1778000" y="4236849"/>
            <a:ext cx="20828000" cy="26211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altLang="zh-CN" sz="8000">
                <a:latin typeface="阿里巴巴普惠体 3.0 55 Regular" panose="00020600040101010101" charset="-122"/>
                <a:ea typeface="阿里巴巴普惠体 3.0 55 Regular" panose="00020600040101010101" charset="-122"/>
              </a:rPr>
              <a:t>04 </a:t>
            </a:r>
            <a:r>
              <a:rPr lang="zh-CN" altLang="en-US" sz="8000">
                <a:latin typeface="阿里巴巴普惠体 3.0 55 Regular" panose="00020600040101010101" charset="-122"/>
                <a:ea typeface="阿里巴巴普惠体 3.0 55 Regular" panose="00020600040101010101" charset="-122"/>
              </a:rPr>
              <a:t>切片语义割裂怎么办</a:t>
            </a:r>
            <a:endParaRPr lang="zh-CN" altLang="en-US" sz="8000">
              <a:latin typeface="阿里巴巴普惠体 3.0 55 Regular" panose="00020600040101010101" charset="-122"/>
              <a:ea typeface="阿里巴巴普惠体 3.0 55 Regular" panose="00020600040101010101" charset="-122"/>
            </a:endParaRPr>
          </a:p>
        </p:txBody>
      </p:sp>
      <p:sp>
        <p:nvSpPr>
          <p:cNvPr id="36" name="副标题 / 讲师"/>
          <p:cNvSpPr/>
          <p:nvPr>
            <p:ph type="body" sz="quarter" idx="1"/>
          </p:nvPr>
        </p:nvSpPr>
        <p:spPr>
          <a:xfrm>
            <a:off x="1778000" y="7376230"/>
            <a:ext cx="20828000" cy="1587502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zh-CN">
                <a:latin typeface="阿里巴巴普惠体 3.0 35 Thin" panose="00020600040101010101" charset="-122"/>
                <a:ea typeface="阿里巴巴普惠体 3.0 35 Thin" panose="00020600040101010101" charset="-122"/>
                <a:cs typeface="阿里巴巴普惠体 3.0 35 Thin" panose="00020600040101010101" charset="-122"/>
              </a:rPr>
              <a:t>尹会生</a:t>
            </a:r>
            <a:endParaRPr lang="zh-CN">
              <a:latin typeface="阿里巴巴普惠体 3.0 35 Thin" panose="00020600040101010101" charset="-122"/>
              <a:ea typeface="阿里巴巴普惠体 3.0 35 Thin" panose="00020600040101010101" charset="-122"/>
              <a:cs typeface="阿里巴巴普惠体 3.0 35 Thin" panose="00020600040101010101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6910" y="2320925"/>
            <a:ext cx="15460345" cy="1001014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在此输入一级标题"/>
          <p:cNvSpPr/>
          <p:nvPr/>
        </p:nvSpPr>
        <p:spPr>
          <a:xfrm>
            <a:off x="1102360" y="1316355"/>
            <a:ext cx="13866495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一、什么是滑动窗口？</a:t>
            </a:r>
            <a:endParaRPr lang="zh-CN" altLang="en-US">
              <a:solidFill>
                <a:schemeClr val="bg1"/>
              </a:solidFill>
              <a:latin typeface="阿里巴巴普惠体 3.0 35 Thin" panose="00020600040101010101" charset="-122"/>
              <a:ea typeface="阿里巴巴普惠体 3.0 35 Thin" panose="00020600040101010101" charset="-122"/>
              <a:sym typeface="+mn-ea"/>
            </a:endParaRPr>
          </a:p>
        </p:txBody>
      </p:sp>
      <p:sp>
        <p:nvSpPr>
          <p:cNvPr id="5" name="矩形 5"/>
          <p:cNvSpPr/>
          <p:nvPr/>
        </p:nvSpPr>
        <p:spPr>
          <a:xfrm>
            <a:off x="2327275" y="2898140"/>
            <a:ext cx="19741515" cy="433197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p>
            <a:pPr algn="l">
              <a:lnSpc>
                <a:spcPct val="220000"/>
              </a:lnSpc>
              <a:buSzPct val="100000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我们可以把文档内容想象成一条连绵不断的河流，而滑动窗口就像是一个</a:t>
            </a:r>
            <a:r>
              <a:rPr lang="en-US" altLang="zh-CN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“</a:t>
            </a: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移动观察框</a:t>
            </a:r>
            <a:r>
              <a:rPr lang="en-US" altLang="zh-CN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”</a:t>
            </a: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。它每次只关注一小段内容，然后逐步向前滑动，依次扫描整个文档。</a:t>
            </a: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  <a:p>
            <a:pPr marL="457200" indent="-457200" algn="l">
              <a:lnSpc>
                <a:spcPct val="220000"/>
              </a:lnSpc>
              <a:buSzPct val="100000"/>
              <a:buFont typeface="Arial" panose="020B0604020202020204" pitchFamily="34" charset="0"/>
              <a:buChar char="•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避免切片过短，确保每个片段都有一定的信息量；</a:t>
            </a: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  <a:p>
            <a:pPr marL="457200" indent="-457200" algn="l">
              <a:lnSpc>
                <a:spcPct val="220000"/>
              </a:lnSpc>
              <a:buSzPct val="100000"/>
              <a:buFont typeface="Arial" panose="020B0604020202020204" pitchFamily="34" charset="0"/>
              <a:buChar char="•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同时通过设置合理的窗口大小和步长，实现对全文的覆盖式处理。</a:t>
            </a: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在此输入一级标题"/>
          <p:cNvSpPr/>
          <p:nvPr/>
        </p:nvSpPr>
        <p:spPr>
          <a:xfrm>
            <a:off x="1102360" y="1316355"/>
            <a:ext cx="13866495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二、关键词如何发挥作用？</a:t>
            </a:r>
            <a:endParaRPr lang="zh-CN" altLang="en-US">
              <a:solidFill>
                <a:schemeClr val="bg1"/>
              </a:solidFill>
              <a:latin typeface="阿里巴巴普惠体 3.0 35 Thin" panose="00020600040101010101" charset="-122"/>
              <a:ea typeface="阿里巴巴普惠体 3.0 35 Thin" panose="00020600040101010101" charset="-122"/>
              <a:sym typeface="+mn-ea"/>
            </a:endParaRPr>
          </a:p>
        </p:txBody>
      </p:sp>
      <p:sp>
        <p:nvSpPr>
          <p:cNvPr id="5" name="矩形 5"/>
          <p:cNvSpPr/>
          <p:nvPr/>
        </p:nvSpPr>
        <p:spPr>
          <a:xfrm>
            <a:off x="2327275" y="2898140"/>
            <a:ext cx="19741515" cy="32486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p>
            <a:pPr algn="l">
              <a:lnSpc>
                <a:spcPct val="220000"/>
              </a:lnSpc>
              <a:buSzPct val="100000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关键词通常是文档中的核心概念、专业术语或高频语义单元。它们承载着文本的主要信息点。</a:t>
            </a: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  <a:p>
            <a:pPr marL="457200" indent="-457200" algn="l">
              <a:lnSpc>
                <a:spcPct val="220000"/>
              </a:lnSpc>
              <a:buSzPct val="100000"/>
              <a:buFont typeface="Arial" panose="020B0604020202020204" pitchFamily="34" charset="0"/>
              <a:buChar char="•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如果某个窗口的边界恰好切断了一个关键词，或者打断了一个完整的语义单元；</a:t>
            </a: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  <a:p>
            <a:pPr marL="457200" indent="-457200" algn="l">
              <a:lnSpc>
                <a:spcPct val="220000"/>
              </a:lnSpc>
              <a:buSzPct val="100000"/>
              <a:buFont typeface="Arial" panose="020B0604020202020204" pitchFamily="34" charset="0"/>
              <a:buChar char="•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我们就可以根据关键词的位置，动态调整切片的起始或结束位置，从而保留语义的完整性。</a:t>
            </a: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在此输入一级标题"/>
          <p:cNvSpPr/>
          <p:nvPr/>
        </p:nvSpPr>
        <p:spPr>
          <a:xfrm>
            <a:off x="1102360" y="1316355"/>
            <a:ext cx="13866495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三、滑动窗口</a:t>
            </a:r>
            <a:r>
              <a:rPr lang="en-US" altLang="zh-CN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 + </a:t>
            </a:r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关键词</a:t>
            </a:r>
            <a:r>
              <a:rPr lang="en-US" altLang="zh-CN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 = </a:t>
            </a:r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智能切片</a:t>
            </a:r>
            <a:endParaRPr lang="zh-CN" altLang="en-US">
              <a:solidFill>
                <a:schemeClr val="bg1"/>
              </a:solidFill>
              <a:latin typeface="阿里巴巴普惠体 3.0 35 Thin" panose="00020600040101010101" charset="-122"/>
              <a:ea typeface="阿里巴巴普惠体 3.0 35 Thin" panose="00020600040101010101" charset="-122"/>
              <a:sym typeface="+mn-ea"/>
            </a:endParaRPr>
          </a:p>
        </p:txBody>
      </p:sp>
      <p:sp>
        <p:nvSpPr>
          <p:cNvPr id="5" name="矩形 5"/>
          <p:cNvSpPr/>
          <p:nvPr/>
        </p:nvSpPr>
        <p:spPr>
          <a:xfrm>
            <a:off x="2327275" y="2898140"/>
            <a:ext cx="19741515" cy="433197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p>
            <a:pPr algn="l">
              <a:lnSpc>
                <a:spcPct val="220000"/>
              </a:lnSpc>
              <a:buSzPct val="100000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将两者结合，我们可以构建一套更加智能的切片流程：</a:t>
            </a: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  <a:p>
            <a:pPr algn="l">
              <a:lnSpc>
                <a:spcPct val="220000"/>
              </a:lnSpc>
              <a:buSzPct val="100000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US" altLang="zh-CN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1. </a:t>
            </a: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初步切片</a:t>
            </a:r>
            <a:r>
              <a:rPr lang="en-US" altLang="zh-CN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 </a:t>
            </a: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：使用滑动窗口对文档进行基础分段；</a:t>
            </a: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  <a:p>
            <a:pPr algn="l">
              <a:lnSpc>
                <a:spcPct val="220000"/>
              </a:lnSpc>
              <a:buSzPct val="100000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US" altLang="zh-CN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2. </a:t>
            </a: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关键词检测</a:t>
            </a:r>
            <a:r>
              <a:rPr lang="en-US" altLang="zh-CN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 </a:t>
            </a: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：分析每个切片的边界，识别是否存在关键词或语义单元的中断；</a:t>
            </a: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  <a:p>
            <a:pPr algn="l">
              <a:lnSpc>
                <a:spcPct val="220000"/>
              </a:lnSpc>
              <a:buSzPct val="100000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US" altLang="zh-CN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3. </a:t>
            </a: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动态调整</a:t>
            </a:r>
            <a:r>
              <a:rPr lang="en-US" altLang="zh-CN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 </a:t>
            </a: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：根据关键词的位置和上下文语境，微调切片边界，确保语义完整且不冗余。</a:t>
            </a: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在此输入一级标题"/>
          <p:cNvSpPr/>
          <p:nvPr/>
        </p:nvSpPr>
        <p:spPr>
          <a:xfrm>
            <a:off x="1102360" y="1316355"/>
            <a:ext cx="13866495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四、评估切片效果：实战演练</a:t>
            </a:r>
            <a:endParaRPr lang="zh-CN" altLang="en-US">
              <a:solidFill>
                <a:schemeClr val="bg1"/>
              </a:solidFill>
              <a:latin typeface="阿里巴巴普惠体 3.0 35 Thin" panose="00020600040101010101" charset="-122"/>
              <a:ea typeface="阿里巴巴普惠体 3.0 35 Thin" panose="00020600040101010101" charset="-122"/>
              <a:sym typeface="+mn-ea"/>
            </a:endParaRPr>
          </a:p>
        </p:txBody>
      </p:sp>
      <p:sp>
        <p:nvSpPr>
          <p:cNvPr id="5" name="矩形 5"/>
          <p:cNvSpPr/>
          <p:nvPr/>
        </p:nvSpPr>
        <p:spPr>
          <a:xfrm>
            <a:off x="2038350" y="4913630"/>
            <a:ext cx="19741515" cy="433197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p>
            <a:pPr algn="l">
              <a:lnSpc>
                <a:spcPct val="220000"/>
              </a:lnSpc>
              <a:buSzPct val="100000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是否保留了完整的语义单元；</a:t>
            </a: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  <a:p>
            <a:pPr algn="l">
              <a:lnSpc>
                <a:spcPct val="220000"/>
              </a:lnSpc>
              <a:buSzPct val="100000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是否避免了关键词被割裂；</a:t>
            </a: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  <a:p>
            <a:pPr algn="l">
              <a:lnSpc>
                <a:spcPct val="220000"/>
              </a:lnSpc>
              <a:buSzPct val="100000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zh-CN" altLang="en-US" sz="3200">
                <a:latin typeface="阿里巴巴普惠体 3.0 35 Thin" panose="00020600040101010101" charset="-122"/>
                <a:ea typeface="阿里巴巴普惠体 3.0 35 Thin" panose="00020600040101010101" charset="-122"/>
              </a:rPr>
              <a:t>是否有助于提升后续检索的准确性。</a:t>
            </a: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  <a:p>
            <a:pPr algn="l">
              <a:lnSpc>
                <a:spcPct val="220000"/>
              </a:lnSpc>
              <a:buSzPct val="100000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zh-CN" altLang="en-US" sz="3200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在此输入一级标题"/>
          <p:cNvSpPr/>
          <p:nvPr/>
        </p:nvSpPr>
        <p:spPr>
          <a:xfrm>
            <a:off x="1102360" y="1316355"/>
            <a:ext cx="1838706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altLang="zh-CN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Token </a:t>
            </a:r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切片（</a:t>
            </a:r>
            <a:r>
              <a:rPr lang="en-US" altLang="zh-CN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Token-based Chunking</a:t>
            </a:r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  <a:latin typeface="阿里巴巴普惠体 3.0 35 Thin" panose="00020600040101010101" charset="-122"/>
              <a:ea typeface="阿里巴巴普惠体 3.0 35 Thin" panose="00020600040101010101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278755" y="5273675"/>
          <a:ext cx="13561060" cy="4368165"/>
        </p:xfrm>
        <a:graphic>
          <a:graphicData uri="http://schemas.openxmlformats.org/drawingml/2006/table">
            <a:tbl>
              <a:tblPr firstRow="1" bandRow="1">
                <a:tableStyleId>{7E7318FF-F128-4A53-A500-50546EB5DFE1}</a:tableStyleId>
              </a:tblPr>
              <a:tblGrid>
                <a:gridCol w="1647190"/>
                <a:gridCol w="11913870"/>
              </a:tblGrid>
              <a:tr h="1456055">
                <a:tc>
                  <a:txBody>
                    <a:bodyPr/>
                    <a:p>
                      <a:pPr fontAlgn="ctr" latinLnBrk="0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特性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描述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1456055">
                <a:tc>
                  <a:txBody>
                    <a:bodyPr/>
                    <a:p>
                      <a:pPr fontAlgn="ctr" latinLnBrk="0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优点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控制输出长度，适用于小模型；实现简单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1456055">
                <a:tc>
                  <a:txBody>
                    <a:bodyPr/>
                    <a:p>
                      <a:pPr fontAlgn="ctr" latinLnBrk="0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缺点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容易造成语义割裂；依赖 </a:t>
                      </a:r>
                      <a:r>
                        <a:rPr lang="en-US" altLang="zh-CN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overlap </a:t>
                      </a:r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补偿效果有限；不适合复杂语义任务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  <a:cs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在此输入一级标题"/>
          <p:cNvSpPr/>
          <p:nvPr/>
        </p:nvSpPr>
        <p:spPr>
          <a:xfrm>
            <a:off x="1102360" y="1316355"/>
            <a:ext cx="1838706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句子切片（</a:t>
            </a:r>
            <a:r>
              <a:rPr lang="en-US" altLang="zh-CN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Sentence-based Chunking</a:t>
            </a:r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  <a:latin typeface="阿里巴巴普惠体 3.0 35 Thin" panose="00020600040101010101" charset="-122"/>
              <a:ea typeface="阿里巴巴普惠体 3.0 35 Thin" panose="00020600040101010101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542540" y="5164455"/>
          <a:ext cx="17567910" cy="3993515"/>
        </p:xfrm>
        <a:graphic>
          <a:graphicData uri="http://schemas.openxmlformats.org/drawingml/2006/table">
            <a:tbl>
              <a:tblPr firstRow="1" bandRow="1">
                <a:tableStyleId>{12C70CD5-B03B-46D6-B764-12221F8BC89D}</a:tableStyleId>
              </a:tblPr>
              <a:tblGrid>
                <a:gridCol w="3329305"/>
                <a:gridCol w="7312660"/>
                <a:gridCol w="6925945"/>
              </a:tblGrid>
              <a:tr h="923925">
                <a:tc>
                  <a:txBody>
                    <a:bodyPr/>
                    <a:p>
                      <a:pPr fontAlgn="b" latinLnBrk="0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特性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b" anchorCtr="0"/>
                </a:tc>
                <a:tc>
                  <a:txBody>
                    <a:bodyPr/>
                    <a:p>
                      <a:pPr fontAlgn="b" latinLnBrk="0"/>
                      <a:r>
                        <a:rPr lang="en-US" altLang="zh-CN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TokenTextSplitter</a:t>
                      </a:r>
                      <a:endParaRPr lang="en-US" altLang="zh-CN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b" anchorCtr="0"/>
                </a:tc>
                <a:tc>
                  <a:txBody>
                    <a:bodyPr/>
                    <a:p>
                      <a:pPr fontAlgn="b" latinLnBrk="0"/>
                      <a:r>
                        <a:rPr lang="en-US" altLang="zh-CN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SentenceSplitter</a:t>
                      </a:r>
                      <a:endParaRPr lang="en-US" altLang="zh-CN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b" anchorCtr="0"/>
                </a:tc>
              </a:tr>
              <a:tr h="1022985">
                <a:tc>
                  <a:txBody>
                    <a:bodyPr/>
                    <a:p>
                      <a:pPr fontAlgn="ctr" latinLnBrk="0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切分单位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Token</a:t>
                      </a:r>
                      <a:endParaRPr lang="en-US" altLang="zh-CN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句子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1023620">
                <a:tc>
                  <a:txBody>
                    <a:bodyPr/>
                    <a:p>
                      <a:pPr fontAlgn="ctr" latinLnBrk="0"/>
                      <a:r>
                        <a:rPr lang="en-US" altLang="zh-CN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chunk_size</a:t>
                      </a:r>
                      <a:endParaRPr lang="en-US" altLang="zh-CN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硬性上限，强制截断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软性目标，优先保持句子完整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1022985">
                <a:tc>
                  <a:txBody>
                    <a:bodyPr/>
                    <a:p>
                      <a:pPr fontAlgn="ctr" latinLnBrk="0"/>
                      <a:r>
                        <a:rPr lang="en-US" altLang="zh-CN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chunk_overlap</a:t>
                      </a:r>
                      <a:endParaRPr lang="en-US" altLang="zh-CN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Token </a:t>
                      </a:r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级别重叠，可能包含不完整句子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  <a:cs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句子级别重叠，确保上下文自然衔接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在此输入一级标题"/>
          <p:cNvSpPr/>
          <p:nvPr/>
        </p:nvSpPr>
        <p:spPr>
          <a:xfrm>
            <a:off x="1102360" y="1316355"/>
            <a:ext cx="1838706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句子窗口切片（</a:t>
            </a:r>
            <a:r>
              <a:rPr lang="en-US" altLang="zh-CN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Sentence Window Chunking</a:t>
            </a:r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）</a:t>
            </a:r>
            <a:endParaRPr lang="zh-CN" altLang="en-US">
              <a:solidFill>
                <a:schemeClr val="bg1"/>
              </a:solidFill>
              <a:latin typeface="阿里巴巴普惠体 3.0 35 Thin" panose="00020600040101010101" charset="-122"/>
              <a:ea typeface="阿里巴巴普惠体 3.0 35 Thin" panose="00020600040101010101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271010" y="4337685"/>
          <a:ext cx="14619605" cy="6193155"/>
        </p:xfrm>
        <a:graphic>
          <a:graphicData uri="http://schemas.openxmlformats.org/drawingml/2006/table">
            <a:tbl>
              <a:tblPr firstRow="1" bandRow="1">
                <a:tableStyleId>{76C5231B-1B10-440A-BC70-DF6BF63BB133}</a:tableStyleId>
              </a:tblPr>
              <a:tblGrid>
                <a:gridCol w="2470785"/>
                <a:gridCol w="12148820"/>
              </a:tblGrid>
              <a:tr h="948055">
                <a:tc>
                  <a:txBody>
                    <a:bodyPr/>
                    <a:p>
                      <a:pPr fontAlgn="b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特性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b" anchorCtr="0"/>
                </a:tc>
                <a:tc>
                  <a:txBody>
                    <a:bodyPr/>
                    <a:p>
                      <a:pPr fontAlgn="b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描述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b" anchorCtr="0"/>
                </a:tc>
              </a:tr>
              <a:tr h="1048385"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切分单位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句子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1049655"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核心机制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为每个句子附加上下文窗口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1049020"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检索方式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基于句子的精准召回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1048385"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生成方式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使用上下文窗口提升语义完整性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1049655"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适用场景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精准问答、摘要生成、解释型回答等对上下文敏感的任务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在此输入一级标题"/>
          <p:cNvSpPr/>
          <p:nvPr/>
        </p:nvSpPr>
        <p:spPr>
          <a:xfrm>
            <a:off x="1102360" y="1316355"/>
            <a:ext cx="1838706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三种切片策略对比分析</a:t>
            </a:r>
            <a:endParaRPr lang="zh-CN" altLang="en-US">
              <a:solidFill>
                <a:schemeClr val="bg1"/>
              </a:solidFill>
              <a:latin typeface="阿里巴巴普惠体 3.0 35 Thin" panose="00020600040101010101" charset="-122"/>
              <a:ea typeface="阿里巴巴普惠体 3.0 35 Thin" panose="00020600040101010101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686685" y="6065520"/>
          <a:ext cx="17270730" cy="4225925"/>
        </p:xfrm>
        <a:graphic>
          <a:graphicData uri="http://schemas.openxmlformats.org/drawingml/2006/table">
            <a:tbl>
              <a:tblPr firstRow="1" bandRow="1">
                <a:tableStyleId>{FD47B06F-D23B-4B3B-8ABC-97372FBE22C4}</a:tableStyleId>
              </a:tblPr>
              <a:tblGrid>
                <a:gridCol w="4060190"/>
                <a:gridCol w="4060190"/>
                <a:gridCol w="4060190"/>
                <a:gridCol w="5090160"/>
              </a:tblGrid>
              <a:tr h="673735"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特性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句子切片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句子窗口切片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基于句子的滑动窗口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</a:tr>
              <a:tr h="673100"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保持句子完整性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en-US" altLang="zh-CN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✅</a:t>
                      </a:r>
                      <a:endParaRPr lang="en-US" altLang="zh-CN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en-US" altLang="zh-CN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✅</a:t>
                      </a:r>
                      <a:endParaRPr lang="en-US" altLang="zh-CN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en-US" altLang="zh-CN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✅</a:t>
                      </a:r>
                      <a:endParaRPr lang="en-US" altLang="zh-CN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</a:tr>
              <a:tr h="673735"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切块之间重叠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en-US" altLang="zh-CN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❌</a:t>
                      </a:r>
                      <a:endParaRPr lang="en-US" altLang="zh-CN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en-US" altLang="zh-CN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❌</a:t>
                      </a:r>
                      <a:endParaRPr lang="en-US" altLang="zh-CN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en-US" altLang="zh-CN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✅</a:t>
                      </a:r>
                      <a:endParaRPr lang="en-US" altLang="zh-CN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</a:tr>
              <a:tr h="673735"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上下文丰富程度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一般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强（需后处理）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强（天然包含）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</a:tr>
              <a:tr h="518160"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检索准确性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一般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一般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强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</a:tr>
              <a:tr h="952500"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适用场景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基础文本处理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精准问答、解释型任务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28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复杂语义匹配、长文本检索</a:t>
                      </a:r>
                      <a:endParaRPr lang="zh-CN" altLang="en-US" sz="28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76517" marR="76517" marT="76517" marB="76517" anchor="t" anchorCtr="0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在此输入一级标题"/>
          <p:cNvSpPr/>
          <p:nvPr/>
        </p:nvSpPr>
        <p:spPr>
          <a:xfrm>
            <a:off x="1102360" y="1316355"/>
            <a:ext cx="1838706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滑动窗口</a:t>
            </a:r>
            <a:r>
              <a:rPr lang="en-US" altLang="zh-CN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 + </a:t>
            </a:r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关键词语义切片（混合策略）</a:t>
            </a:r>
            <a:endParaRPr lang="zh-CN" altLang="en-US">
              <a:solidFill>
                <a:schemeClr val="bg1"/>
              </a:solidFill>
              <a:latin typeface="阿里巴巴普惠体 3.0 35 Thin" panose="00020600040101010101" charset="-122"/>
              <a:ea typeface="阿里巴巴普惠体 3.0 35 Thin" panose="00020600040101010101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030605" y="3761105"/>
          <a:ext cx="21779865" cy="6794500"/>
        </p:xfrm>
        <a:graphic>
          <a:graphicData uri="http://schemas.openxmlformats.org/drawingml/2006/table">
            <a:tbl>
              <a:tblPr firstRow="1" bandRow="1">
                <a:tableStyleId>{B5CB02F7-2A5F-49FE-9F6A-FB74767AA055}</a:tableStyleId>
              </a:tblPr>
              <a:tblGrid>
                <a:gridCol w="3941445"/>
                <a:gridCol w="8678545"/>
                <a:gridCol w="9159875"/>
              </a:tblGrid>
              <a:tr h="697865"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</a:rPr>
                        <a:t>策略类型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优点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  <a:cs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缺点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  <a:cs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3048635"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滑动窗口 </a:t>
                      </a: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(SentenceSplitter)</a:t>
                      </a:r>
                      <a:endParaRPr lang="en-US" altLang="zh-CN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  <a:cs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1.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上下文保留：通过</a:t>
                      </a: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chunk_overlap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确保切块边界的信息不会丢失，有效缓解了“答案在切块边缘”的问题。</a:t>
                      </a:r>
                      <a:b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</a:b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2. 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大小可控：可以大致控制切块的</a:t>
                      </a: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chunk_size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，对</a:t>
                      </a: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LLM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的上下文窗口友好。</a:t>
                      </a:r>
                      <a:b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</a:b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3. 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速度快：不依赖昂贵的</a:t>
                      </a: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Embedding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模型调用，计算成本低。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  <a:cs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1.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语义盲目：完全不理解文本内容，可能在逻辑最紧密的地方强行切分，导致“语义割裂”。</a:t>
                      </a:r>
                      <a:b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</a:b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2. 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冗余度高：产生大量重叠内容，增加了索引的存储成本和检索时的计算量。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  <a:cs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  <a:tr h="3048000">
                <a:tc>
                  <a:txBody>
                    <a:bodyPr/>
                    <a:p>
                      <a:pPr fontAlgn="ctr" latinLnBrk="0"/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语义切分 </a:t>
                      </a: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(SemanticSplitter)</a:t>
                      </a:r>
                      <a:endParaRPr lang="en-US" altLang="zh-CN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  <a:cs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1.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语义完整性：切块的边界就是语义的边界，每个块都是一个高度内聚的、完整的逻辑单元。</a:t>
                      </a:r>
                      <a:b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</a:b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2. 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信噪比高：提供给</a:t>
                      </a: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LLM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的上下文非常“干净”，几乎没有无关信息。</a:t>
                      </a:r>
                      <a:b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</a:b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3. 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动态大小：切块大小自适应文本的逻辑结构。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  <a:cs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1.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边界上下文丢失：如果用户的答案恰好需要结合两个语义块边界的信息，可能会因为没有重叠而检索不全。</a:t>
                      </a:r>
                      <a:b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</a:b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2. 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大小不可控：可能产生非常大的语义块，超出</a:t>
                      </a: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LLM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能处理的上下文长度限制。</a:t>
                      </a:r>
                      <a:b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</a:b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3. 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成本高：需要为每个句子计算嵌入向量，速度慢且有</a:t>
                      </a:r>
                      <a:r>
                        <a:rPr lang="en-US" altLang="zh-CN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API</a:t>
                      </a:r>
                      <a:r>
                        <a:rPr lang="zh-CN" altLang="en-US" sz="2400">
                          <a:latin typeface="阿里巴巴普惠体 3.0 45 Light" panose="00020600040101010101" charset="-122"/>
                          <a:ea typeface="阿里巴巴普惠体 3.0 45 Light" panose="00020600040101010101" charset="-122"/>
                          <a:cs typeface="阿里巴巴普惠体 3.0 45 Light" panose="00020600040101010101" charset="-122"/>
                        </a:rPr>
                        <a:t>调用成本。</a:t>
                      </a:r>
                      <a:endParaRPr lang="zh-CN" altLang="en-US" sz="2400">
                        <a:latin typeface="阿里巴巴普惠体 3.0 45 Light" panose="00020600040101010101" charset="-122"/>
                        <a:ea typeface="阿里巴巴普惠体 3.0 45 Light" panose="00020600040101010101" charset="-122"/>
                        <a:cs typeface="阿里巴巴普惠体 3.0 45 Light" panose="00020600040101010101" charset="-122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在此输入一级标题"/>
          <p:cNvSpPr/>
          <p:nvPr/>
        </p:nvSpPr>
        <p:spPr>
          <a:xfrm>
            <a:off x="1102360" y="1316355"/>
            <a:ext cx="13866495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四、</a:t>
            </a:r>
            <a:r>
              <a:rPr lang="zh-CN" altLang="en-US">
                <a:solidFill>
                  <a:schemeClr val="bg1"/>
                </a:solidFill>
                <a:latin typeface="阿里巴巴普惠体 3.0 35 Thin" panose="00020600040101010101" charset="-122"/>
                <a:ea typeface="阿里巴巴普惠体 3.0 35 Thin" panose="00020600040101010101" charset="-122"/>
                <a:sym typeface="+mn-ea"/>
              </a:rPr>
              <a:t>总结</a:t>
            </a:r>
            <a:endParaRPr lang="zh-CN" altLang="en-US">
              <a:solidFill>
                <a:schemeClr val="bg1"/>
              </a:solidFill>
              <a:latin typeface="阿里巴巴普惠体 3.0 35 Thin" panose="00020600040101010101" charset="-122"/>
              <a:ea typeface="阿里巴巴普惠体 3.0 35 Thin" panose="00020600040101010101" charset="-122"/>
              <a:sym typeface="+mn-ea"/>
            </a:endParaRPr>
          </a:p>
        </p:txBody>
      </p:sp>
      <p:sp>
        <p:nvSpPr>
          <p:cNvPr id="5" name="矩形 5"/>
          <p:cNvSpPr/>
          <p:nvPr/>
        </p:nvSpPr>
        <p:spPr>
          <a:xfrm>
            <a:off x="2254885" y="4625340"/>
            <a:ext cx="19741515" cy="32486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p>
            <a:pPr algn="l">
              <a:lnSpc>
                <a:spcPct val="220000"/>
              </a:lnSpc>
              <a:buSzPct val="100000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zh-CN" altLang="en-US" sz="3200" b="1">
                <a:latin typeface="阿里巴巴普惠体 3.0 35 Thin" panose="00020600040101010101" charset="-122"/>
                <a:ea typeface="阿里巴巴普惠体 3.0 35 Thin" panose="00020600040101010101" charset="-122"/>
              </a:rPr>
              <a:t>在实际应用中，选择切片方法不必拘泥于某一种模式</a:t>
            </a:r>
            <a:endParaRPr lang="zh-CN" altLang="en-US" sz="3200" b="1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  <a:p>
            <a:pPr algn="l">
              <a:lnSpc>
                <a:spcPct val="220000"/>
              </a:lnSpc>
              <a:buSzPct val="100000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zh-CN" altLang="en-US" sz="3200" b="1">
                <a:latin typeface="阿里巴巴普惠体 3.0 35 Thin" panose="00020600040101010101" charset="-122"/>
                <a:ea typeface="阿里巴巴普惠体 3.0 35 Thin" panose="00020600040101010101" charset="-122"/>
              </a:rPr>
              <a:t>没有</a:t>
            </a:r>
            <a:r>
              <a:rPr lang="en-US" altLang="zh-CN" sz="3200" b="1">
                <a:latin typeface="阿里巴巴普惠体 3.0 35 Thin" panose="00020600040101010101" charset="-122"/>
                <a:ea typeface="阿里巴巴普惠体 3.0 35 Thin" panose="00020600040101010101" charset="-122"/>
              </a:rPr>
              <a:t>“</a:t>
            </a:r>
            <a:r>
              <a:rPr lang="zh-CN" altLang="en-US" sz="3200" b="1">
                <a:latin typeface="阿里巴巴普惠体 3.0 35 Thin" panose="00020600040101010101" charset="-122"/>
                <a:ea typeface="阿里巴巴普惠体 3.0 35 Thin" panose="00020600040101010101" charset="-122"/>
              </a:rPr>
              <a:t>最好的</a:t>
            </a:r>
            <a:r>
              <a:rPr lang="en-US" altLang="zh-CN" sz="3200" b="1">
                <a:latin typeface="阿里巴巴普惠体 3.0 35 Thin" panose="00020600040101010101" charset="-122"/>
                <a:ea typeface="阿里巴巴普惠体 3.0 35 Thin" panose="00020600040101010101" charset="-122"/>
              </a:rPr>
              <a:t>”</a:t>
            </a:r>
            <a:r>
              <a:rPr lang="zh-CN" altLang="en-US" sz="3200" b="1">
                <a:latin typeface="阿里巴巴普惠体 3.0 35 Thin" panose="00020600040101010101" charset="-122"/>
                <a:ea typeface="阿里巴巴普惠体 3.0 35 Thin" panose="00020600040101010101" charset="-122"/>
              </a:rPr>
              <a:t>切片方法，只有</a:t>
            </a:r>
            <a:r>
              <a:rPr lang="en-US" altLang="zh-CN" sz="3200" b="1">
                <a:latin typeface="阿里巴巴普惠体 3.0 35 Thin" panose="00020600040101010101" charset="-122"/>
                <a:ea typeface="阿里巴巴普惠体 3.0 35 Thin" panose="00020600040101010101" charset="-122"/>
              </a:rPr>
              <a:t>“</a:t>
            </a:r>
            <a:r>
              <a:rPr lang="zh-CN" altLang="en-US" sz="3200" b="1">
                <a:latin typeface="阿里巴巴普惠体 3.0 35 Thin" panose="00020600040101010101" charset="-122"/>
                <a:ea typeface="阿里巴巴普惠体 3.0 35 Thin" panose="00020600040101010101" charset="-122"/>
              </a:rPr>
              <a:t>最适合当前任务</a:t>
            </a:r>
            <a:r>
              <a:rPr lang="en-US" altLang="zh-CN" sz="3200" b="1">
                <a:latin typeface="阿里巴巴普惠体 3.0 35 Thin" panose="00020600040101010101" charset="-122"/>
                <a:ea typeface="阿里巴巴普惠体 3.0 35 Thin" panose="00020600040101010101" charset="-122"/>
              </a:rPr>
              <a:t>”</a:t>
            </a:r>
            <a:r>
              <a:rPr lang="zh-CN" altLang="en-US" sz="3200" b="1">
                <a:latin typeface="阿里巴巴普惠体 3.0 35 Thin" panose="00020600040101010101" charset="-122"/>
                <a:ea typeface="阿里巴巴普惠体 3.0 35 Thin" panose="00020600040101010101" charset="-122"/>
              </a:rPr>
              <a:t>的方法。</a:t>
            </a:r>
            <a:endParaRPr lang="zh-CN" altLang="en-US" sz="3200" b="1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  <a:p>
            <a:pPr algn="l">
              <a:lnSpc>
                <a:spcPct val="220000"/>
              </a:lnSpc>
              <a:buSzPct val="100000"/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zh-CN" altLang="en-US" sz="3200" b="1">
                <a:latin typeface="阿里巴巴普惠体 3.0 35 Thin" panose="00020600040101010101" charset="-122"/>
                <a:ea typeface="阿里巴巴普惠体 3.0 35 Thin" panose="00020600040101010101" charset="-122"/>
              </a:rPr>
              <a:t>建议你多尝试几种策略，观察它们在检索和生成上的表现差异，找到最适合你的业务场景的方案。</a:t>
            </a:r>
            <a:endParaRPr lang="zh-CN" altLang="en-US" sz="3200" b="1">
              <a:latin typeface="阿里巴巴普惠体 3.0 35 Thin" panose="00020600040101010101" charset="-122"/>
              <a:ea typeface="阿里巴巴普惠体 3.0 35 Thin" panose="00020600040101010101" charset="-122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ABLE_ENDDRAG_ORIGIN_RECT" val="1067*343"/>
  <p:tag name="TABLE_ENDDRAG_RECT" val="279*301*1067*343"/>
</p:tagLst>
</file>

<file path=ppt/tags/tag2.xml><?xml version="1.0" encoding="utf-8"?>
<p:tagLst xmlns:p="http://schemas.openxmlformats.org/presentationml/2006/main">
  <p:tag name="TABLE_ENDDRAG_ORIGIN_RECT" val="1383*314"/>
  <p:tag name="TABLE_ENDDRAG_RECT" val="200*406*1383*314"/>
</p:tagLst>
</file>

<file path=ppt/tags/tag3.xml><?xml version="1.0" encoding="utf-8"?>
<p:tagLst xmlns:p="http://schemas.openxmlformats.org/presentationml/2006/main">
  <p:tag name="TABLE_ENDDRAG_ORIGIN_RECT" val="1151*487"/>
  <p:tag name="TABLE_ENDDRAG_RECT" val="308*264*1151*487"/>
</p:tagLst>
</file>

<file path=ppt/tags/tag4.xml><?xml version="1.0" encoding="utf-8"?>
<p:tagLst xmlns:p="http://schemas.openxmlformats.org/presentationml/2006/main">
  <p:tag name="TABLE_ENDDRAG_ORIGIN_RECT" val="1278*320"/>
  <p:tag name="TABLE_ENDDRAG_RECT" val="330*284*1278*320"/>
</p:tagLst>
</file>

<file path=ppt/tags/tag5.xml><?xml version="1.0" encoding="utf-8"?>
<p:tagLst xmlns:p="http://schemas.openxmlformats.org/presentationml/2006/main">
  <p:tag name="TABLE_ENDDRAG_ORIGIN_RECT" val="1714*534"/>
  <p:tag name="TABLE_ENDDRAG_RECT" val="81*296*1714*535"/>
</p:tagLst>
</file>

<file path=ppt/tags/tag6.xml><?xml version="1.0" encoding="utf-8"?>
<p:tagLst xmlns:p="http://schemas.openxmlformats.org/presentationml/2006/main">
  <p:tag name="resource_record_key" val="{&quot;10&quot;:[50029029,3632984,21595815],&quot;29&quot;:[50000162,50000076,50000077],&quot;65&quot;:[20231077],&quot;70&quot;:[3312443]}"/>
</p:tagLst>
</file>

<file path=ppt/theme/theme1.xml><?xml version="1.0" encoding="utf-8"?>
<a:theme xmlns:a="http://schemas.openxmlformats.org/drawingml/2006/main" name="Whit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FF9300"/>
      </a:hlink>
      <a:folHlink>
        <a:srgbClr val="FF9300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1562</Words>
  <Application>WPS 演示</Application>
  <PresentationFormat/>
  <Paragraphs>172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Helvetica Neue Medium</vt:lpstr>
      <vt:lpstr>阿里巴巴普惠体 3.0 35 Thin</vt:lpstr>
      <vt:lpstr>Helvetica Neue</vt:lpstr>
      <vt:lpstr>Helvetica Neue Light</vt:lpstr>
      <vt:lpstr>Helvetica</vt:lpstr>
      <vt:lpstr>阿里巴巴普惠体 3.0 55 Regular</vt:lpstr>
      <vt:lpstr>PingFang SC Semibold</vt:lpstr>
      <vt:lpstr>微软雅黑</vt:lpstr>
      <vt:lpstr>Arial Unicode MS</vt:lpstr>
      <vt:lpstr>Helvetica</vt:lpstr>
      <vt:lpstr>阿里巴巴普惠体 3.0 45 Light</vt:lpstr>
      <vt:lpstr>方正清仿宋 简 Bold</vt:lpstr>
      <vt:lpstr>White</vt:lpstr>
      <vt:lpstr>02｜跨页表格怎么自动对齐合并？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标题</dc:title>
  <dc:creator/>
  <cp:lastModifiedBy>尹会生</cp:lastModifiedBy>
  <cp:revision>99</cp:revision>
  <dcterms:created xsi:type="dcterms:W3CDTF">2025-06-14T15:20:00Z</dcterms:created>
  <dcterms:modified xsi:type="dcterms:W3CDTF">2025-06-25T14:32:16Z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6EE83FFA188C47A2A43268B5A1384F19_12</vt:lpwstr>
  </property>
  <property fmtid="{D5CDD505-2E9C-101B-9397-08002B2CF9AE}" pid="3" name="KSOProductBuildVer">
    <vt:lpwstr>2052-12.1.0.21541</vt:lpwstr>
  </property>
</Properties>
</file>